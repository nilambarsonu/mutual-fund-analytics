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3A6B"/>
          </a:solidFill>
          <a:ln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371600"/>
            <a:ext cx="121889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BLUESTOCK FINTECH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377440"/>
            <a:ext cx="121889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5811F"/>
                </a:solidFill>
              </a:rPr>
              <a:t>Mutual Fund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566160"/>
            <a:ext cx="121889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Capstone Project I — Final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389120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C4DE"/>
                </a:solidFill>
              </a:rPr>
              <a:t>Nilambar Sonu Behera  | 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B3A6B"/>
          </a:solidFill>
          <a:ln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Bluestock MF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5720"/>
            <a:ext cx="121889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5811F"/>
                </a:solidFill>
              </a:rPr>
              <a:t>Problem Statement &amp;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45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0C4DE"/>
                </a:solidFill>
              </a:rPr>
              <a:t>Capstone Project 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3A6B"/>
                </a:solidFill>
              </a:rPr>
              <a:t>Problem Statement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82828"/>
                </a:solidFill>
              </a:rPr>
              <a:t>Retail mutual fund investors lack accessible, data-driven tools to compare fund performance, assess risk-adjusted returns, and receive personalised fund recommendations based on their risk appetite. Raw NAV data from AMFI exists but is unstructured and hard to analyse.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108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3A6B"/>
                </a:solidFill>
              </a:rPr>
              <a:t>Objectives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566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82828"/>
                </a:solidFill>
              </a:rPr>
              <a:t>✓  Build a robust ETL pipeline to ingest, clean, and load 10+ datasets into SQLite.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0690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82828"/>
                </a:solidFill>
              </a:rPr>
              <a:t>✓  Compute performance metrics: CAGR, Sharpe, Sortino, Alpha, Beta, VaR, CVaR.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82828"/>
                </a:solidFill>
              </a:rPr>
              <a:t>✓  Develop a composite Fund Scorecard (0-100) based on weighted percentile ranks.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074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82828"/>
                </a:solidFill>
              </a:rPr>
              <a:t>✓  Generate a 4-page analytical dashboard + interactive Power BI template.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577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82828"/>
                </a:solidFill>
              </a:rPr>
              <a:t>✓  Implement a fund recommender system by risk appetite (Low / Moderate / High).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B3A6B"/>
          </a:solidFill>
          <a:ln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Bluestock MF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5720"/>
            <a:ext cx="121889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5811F"/>
                </a:solidFill>
              </a:rPr>
              <a:t>Data Sources &amp;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45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0C4DE"/>
                </a:solidFill>
              </a:rPr>
              <a:t>Capstone Project 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100584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87878"/>
                </a:solidFill>
              </a:rPr>
              <a:t>10 Datasets | SQLite Database | 12 Tables | 80,000+ Records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737360"/>
            <a:ext cx="5303520" cy="1371600"/>
          </a:xfrm>
          <a:prstGeom prst="rect">
            <a:avLst/>
          </a:prstGeom>
          <a:solidFill>
            <a:srgbClr val="EEF2F7"/>
          </a:solidFill>
          <a:ln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288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3A6B"/>
                </a:solidFill>
              </a:rPr>
              <a:t>Fund Master (40 funds)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4028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82828"/>
                </a:solidFill>
              </a:rPr>
              <a:t>Scheme metadata, expense ratios, categories, risk grades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737360"/>
            <a:ext cx="5303520" cy="1371600"/>
          </a:xfrm>
          <a:prstGeom prst="rect">
            <a:avLst/>
          </a:prstGeom>
          <a:solidFill>
            <a:srgbClr val="EEF2F7"/>
          </a:solidFill>
          <a:ln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8288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3A6B"/>
                </a:solidFill>
              </a:rPr>
              <a:t>NAV History (64,320 rows)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24028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82828"/>
                </a:solidFill>
              </a:rPr>
              <a:t>Daily NAV per scheme: Jan 2022 – May 2026 (~4.4 years)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383280"/>
            <a:ext cx="5303520" cy="1371600"/>
          </a:xfrm>
          <a:prstGeom prst="rect">
            <a:avLst/>
          </a:prstGeom>
          <a:solidFill>
            <a:srgbClr val="EEF2F7"/>
          </a:solidFill>
          <a:ln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4747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3A6B"/>
                </a:solidFill>
              </a:rPr>
              <a:t>Investor Transactions (32K+)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88620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82828"/>
                </a:solidFill>
              </a:rPr>
              <a:t>SIP, Lumpsum, Redemption records with investor demographics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3383280"/>
            <a:ext cx="5303520" cy="1371600"/>
          </a:xfrm>
          <a:prstGeom prst="rect">
            <a:avLst/>
          </a:prstGeom>
          <a:solidFill>
            <a:srgbClr val="EEF2F7"/>
          </a:solidFill>
          <a:ln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34747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3A6B"/>
                </a:solidFill>
              </a:rPr>
              <a:t>Benchmark Indices (8,050)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388620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82828"/>
                </a:solidFill>
              </a:rPr>
              <a:t>NIFTY 50 &amp; NIFTY 100 daily closing values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5029200"/>
            <a:ext cx="5303520" cy="1371600"/>
          </a:xfrm>
          <a:prstGeom prst="rect">
            <a:avLst/>
          </a:prstGeom>
          <a:solidFill>
            <a:srgbClr val="EEF2F7"/>
          </a:solidFill>
          <a:ln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51206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3A6B"/>
                </a:solidFill>
              </a:rPr>
              <a:t>Portfolio Holdings (322)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53212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82828"/>
                </a:solidFill>
              </a:rPr>
              <a:t>Top stock holdings and sector weights per equity fund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5029200"/>
            <a:ext cx="5303520" cy="1371600"/>
          </a:xfrm>
          <a:prstGeom prst="rect">
            <a:avLst/>
          </a:prstGeom>
          <a:solidFill>
            <a:srgbClr val="EEF2F7"/>
          </a:solidFill>
          <a:ln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51206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3A6B"/>
                </a:solidFill>
              </a:rPr>
              <a:t>SIP Inflows / Category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553212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82828"/>
                </a:solidFill>
              </a:rPr>
              <a:t>Industry-level monthly inflow and category-wise trends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B3A6B"/>
          </a:solidFill>
          <a:ln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Bluestock MF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5720"/>
            <a:ext cx="121889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5811F"/>
                </a:solidFill>
              </a:rPr>
              <a:t>System Architecture &amp;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45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0C4DE"/>
                </a:solidFill>
              </a:rPr>
              <a:t>Capstone Project I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1645920" cy="1371600"/>
          </a:xfrm>
          <a:prstGeom prst="rect">
            <a:avLst/>
          </a:prstGeom>
          <a:solidFill>
            <a:srgbClr val="1B3A6B"/>
          </a:solidFill>
          <a:ln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41732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📥 Ingest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96596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8DCF0"/>
                </a:solidFill>
              </a:rPr>
              <a:t>Raw CSV + MFAPI
live NAV fetch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1645920"/>
            <a:ext cx="320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5811F"/>
                </a:solidFill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40279" y="1371600"/>
            <a:ext cx="1645920" cy="1371600"/>
          </a:xfrm>
          <a:prstGeom prst="rect">
            <a:avLst/>
          </a:prstGeom>
          <a:solidFill>
            <a:srgbClr val="1B3A6B"/>
          </a:solidFill>
          <a:ln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40279" y="141732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🧹 Clean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79" y="196596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8DCF0"/>
                </a:solidFill>
              </a:rPr>
              <a:t>Type coercion,
dedup, validation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86200" y="1645920"/>
            <a:ext cx="320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5811F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06240" y="1371600"/>
            <a:ext cx="1645920" cy="1371600"/>
          </a:xfrm>
          <a:prstGeom prst="rect">
            <a:avLst/>
          </a:prstGeom>
          <a:solidFill>
            <a:srgbClr val="1B3A6B"/>
          </a:solidFill>
          <a:ln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06240" y="141732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🗄 Load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196596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8DCF0"/>
                </a:solidFill>
              </a:rPr>
              <a:t>SQLite star schema
12 tables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59" y="1645920"/>
            <a:ext cx="320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5811F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199" y="1371600"/>
            <a:ext cx="1645920" cy="1371600"/>
          </a:xfrm>
          <a:prstGeom prst="rect">
            <a:avLst/>
          </a:prstGeom>
          <a:solidFill>
            <a:srgbClr val="1B3A6B"/>
          </a:solidFill>
          <a:ln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72199" y="141732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📊 Analyse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199" y="196596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8DCF0"/>
                </a:solidFill>
              </a:rPr>
              <a:t>EDA + Performance
Metrics + Scoring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8119" y="1645920"/>
            <a:ext cx="320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5811F"/>
                </a:solidFill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38160" y="1371600"/>
            <a:ext cx="1645920" cy="1371600"/>
          </a:xfrm>
          <a:prstGeom prst="rect">
            <a:avLst/>
          </a:prstGeom>
          <a:solidFill>
            <a:srgbClr val="1B3A6B"/>
          </a:solidFill>
          <a:ln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38160" y="141732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📈 Visualise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196596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8DCF0"/>
                </a:solidFill>
              </a:rPr>
              <a:t>Dashboard PNGs
PDF Export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80" y="1645920"/>
            <a:ext cx="320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5811F"/>
                </a:solidFill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104120" y="1371600"/>
            <a:ext cx="1645920" cy="1371600"/>
          </a:xfrm>
          <a:prstGeom prst="rect">
            <a:avLst/>
          </a:prstGeom>
          <a:solidFill>
            <a:srgbClr val="1B3A6B"/>
          </a:solidFill>
          <a:ln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104120" y="141732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🤖 Recommend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04120" y="196596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8DCF0"/>
                </a:solidFill>
              </a:rPr>
              <a:t>Risk-based fund
recommender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0" y="310896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87878"/>
                </a:solidFill>
              </a:rPr>
              <a:t>Python Stack: pandas | numpy | scipy | matplotlib | seaborn | sqlite3 | reportlab | python-pptx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0" y="356616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B3A6B"/>
                </a:solidFill>
              </a:rPr>
              <a:t>Execution: python scripts/run_pipeline.py  (master pipeline runner)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B3A6B"/>
          </a:solidFill>
          <a:ln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Bluestock MF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5720"/>
            <a:ext cx="121889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5811F"/>
                </a:solidFill>
              </a:rPr>
              <a:t>EDA Highlights — NAV Trends &amp; Category Distribution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45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0C4DE"/>
                </a:solidFill>
              </a:rPr>
              <a:t>Capstone Project I</a:t>
            </a:r>
          </a:p>
        </p:txBody>
      </p:sp>
      <p:pic>
        <p:nvPicPr>
          <p:cNvPr id="6" name="Picture 5" descr="nav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5486400" cy="3474720"/>
          </a:xfrm>
          <a:prstGeom prst="rect">
            <a:avLst/>
          </a:prstGeom>
        </p:spPr>
      </p:pic>
      <p:pic>
        <p:nvPicPr>
          <p:cNvPr id="7" name="Picture 6" descr="fund_risk_category_d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05840"/>
            <a:ext cx="5486400" cy="34747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46634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82828"/>
                </a:solidFill>
              </a:rPr>
              <a:t>• Sustained NAV growth for equity funds post-2022 correction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50292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82828"/>
                </a:solidFill>
              </a:rPr>
              <a:t>• Large-cap and mid-cap dominate; debt/liquid funds show stable NAVs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B3A6B"/>
          </a:solidFill>
          <a:ln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Bluestock MF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5720"/>
            <a:ext cx="121889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5811F"/>
                </a:solidFill>
              </a:rPr>
              <a:t>EDA Highlights — Investor Analytics &amp; SIP Trends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45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0C4DE"/>
                </a:solidFill>
              </a:rPr>
              <a:t>Capstone Project I</a:t>
            </a:r>
          </a:p>
        </p:txBody>
      </p:sp>
      <p:pic>
        <p:nvPicPr>
          <p:cNvPr id="6" name="Picture 5" descr="sip_inflow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5486400" cy="3474720"/>
          </a:xfrm>
          <a:prstGeom prst="rect">
            <a:avLst/>
          </a:prstGeom>
        </p:spPr>
      </p:pic>
      <p:pic>
        <p:nvPicPr>
          <p:cNvPr id="7" name="Picture 6" descr="category_inflows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05840"/>
            <a:ext cx="5486400" cy="34747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46634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82828"/>
                </a:solidFill>
              </a:rPr>
              <a:t>• SIP inflows show consistent YoY growth — strong retail participation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50292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82828"/>
                </a:solidFill>
              </a:rPr>
              <a:t>• Equity-oriented categories receive highest net inflows in FY2025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B3A6B"/>
          </a:solidFill>
          <a:ln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Bluestock MF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5720"/>
            <a:ext cx="121889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5811F"/>
                </a:solidFill>
              </a:rPr>
              <a:t>Fund Performance — Scorecard &amp; Benchmark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45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0C4DE"/>
                </a:solidFill>
              </a:rPr>
              <a:t>Capstone Project I</a:t>
            </a:r>
          </a:p>
        </p:txBody>
      </p:sp>
      <p:pic>
        <p:nvPicPr>
          <p:cNvPr id="6" name="Picture 5" descr="benchmark_comparison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1143000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B3A6B"/>
          </a:solidFill>
          <a:ln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Bluestock MF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5720"/>
            <a:ext cx="121889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5811F"/>
                </a:solidFill>
              </a:rPr>
              <a:t>Fund Performance — Rolling Sharpe &amp; VaR/CVaR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45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0C4DE"/>
                </a:solidFill>
              </a:rPr>
              <a:t>Capstone Project I</a:t>
            </a:r>
          </a:p>
        </p:txBody>
      </p:sp>
      <p:pic>
        <p:nvPicPr>
          <p:cNvPr id="6" name="Picture 5" descr="rolling_sharpe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7772400" cy="502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321040" y="1097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3A6B"/>
                </a:solidFill>
              </a:rPr>
              <a:t>Top 5 Scorecard Funds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21488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82828"/>
                </a:solidFill>
              </a:rPr>
              <a:t>1. Mirae Asset Large Cap Fund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24231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1B3A6B"/>
                </a:solidFill>
              </a:rPr>
              <a:t>Score: 86.25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27432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82828"/>
                </a:solidFill>
              </a:rPr>
              <a:t>2. ICICI Pru Midcap Fund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3017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1B3A6B"/>
                </a:solidFill>
              </a:rPr>
              <a:t>Score: 82.88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33375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82828"/>
                </a:solidFill>
              </a:rPr>
              <a:t>3. Kotak Flexicap Fund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36118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1B3A6B"/>
                </a:solidFill>
              </a:rPr>
              <a:t>Score: 82.0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39319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82828"/>
                </a:solidFill>
              </a:rPr>
              <a:t>4. HDFC Mid-Cap Opportunities 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4206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1B3A6B"/>
                </a:solidFill>
              </a:rPr>
              <a:t>Score: 80.75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4526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82828"/>
                </a:solidFill>
              </a:rPr>
              <a:t>5. ICICI Pru Bluechip Fund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48006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1B3A6B"/>
                </a:solidFill>
              </a:rPr>
              <a:t>Score: 79.38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B3A6B"/>
          </a:solidFill>
          <a:ln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Bluestock MF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5720"/>
            <a:ext cx="121889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5811F"/>
                </a:solidFill>
              </a:rPr>
              <a:t>Dashboard — Industry Overview &amp; Fund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45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0C4DE"/>
                </a:solidFill>
              </a:rPr>
              <a:t>Capstone Project I</a:t>
            </a:r>
          </a:p>
        </p:txBody>
      </p:sp>
      <p:pic>
        <p:nvPicPr>
          <p:cNvPr id="6" name="Picture 5" descr="page_1_industry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05840"/>
            <a:ext cx="5852160" cy="3291840"/>
          </a:xfrm>
          <a:prstGeom prst="rect">
            <a:avLst/>
          </a:prstGeom>
        </p:spPr>
      </p:pic>
      <p:pic>
        <p:nvPicPr>
          <p:cNvPr id="7" name="Picture 6" descr="page_2_fund_perform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05840"/>
            <a:ext cx="5852160" cy="3291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82880" y="4389120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87878"/>
                </a:solidFill>
              </a:rPr>
              <a:t>Page 1: KPI Cards + NAV Trend + AUM Distribution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4389120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87878"/>
                </a:solidFill>
              </a:rPr>
              <a:t>Page 2: Return vs Risk Scatter + Normalised NAV Comparison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B3A6B"/>
          </a:solidFill>
          <a:ln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Bluestock MF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5720"/>
            <a:ext cx="121889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5811F"/>
                </a:solidFill>
              </a:rPr>
              <a:t>Dashboard — Investor Analytics &amp; Market Trends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45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0C4DE"/>
                </a:solidFill>
              </a:rPr>
              <a:t>Capstone Project I</a:t>
            </a:r>
          </a:p>
        </p:txBody>
      </p:sp>
      <p:pic>
        <p:nvPicPr>
          <p:cNvPr id="6" name="Picture 5" descr="page_3_investor_analy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05840"/>
            <a:ext cx="5852160" cy="3291840"/>
          </a:xfrm>
          <a:prstGeom prst="rect">
            <a:avLst/>
          </a:prstGeom>
        </p:spPr>
      </p:pic>
      <p:pic>
        <p:nvPicPr>
          <p:cNvPr id="7" name="Picture 6" descr="page_4_sip_market_tren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05840"/>
            <a:ext cx="5852160" cy="3291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82880" y="4389120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87878"/>
                </a:solidFill>
              </a:rPr>
              <a:t>Page 3: Transaction Type Split + Monthly Volume Trends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4389120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87878"/>
                </a:solidFill>
              </a:rPr>
              <a:t>Page 4: SIP Inflow vs Nifty 50 + Category Inflow Heatmap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B3A6B"/>
          </a:solidFill>
          <a:ln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Bluestock MF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5720"/>
            <a:ext cx="121889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5811F"/>
                </a:solidFill>
              </a:rPr>
              <a:t>Key Findings &amp;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45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0C4DE"/>
                </a:solidFill>
              </a:rPr>
              <a:t>Capstone Project I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5303520" cy="1554480"/>
          </a:xfrm>
          <a:prstGeom prst="rect">
            <a:avLst/>
          </a:prstGeom>
          <a:solidFill>
            <a:srgbClr val="EEF2F7"/>
          </a:solidFill>
          <a:ln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3A6B"/>
                </a:solidFill>
              </a:rPr>
              <a:t>🏆 Top Performer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45919"/>
            <a:ext cx="5029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82828"/>
                </a:solidFill>
              </a:rPr>
              <a:t>Mirae Asset Large Cap Fund (Score: 86.25) — best 3yr CAGR + Sharpe combination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097280"/>
            <a:ext cx="5303520" cy="1554480"/>
          </a:xfrm>
          <a:prstGeom prst="rect">
            <a:avLst/>
          </a:prstGeom>
          <a:solidFill>
            <a:srgbClr val="EEF2F7"/>
          </a:solidFill>
          <a:ln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3A6B"/>
                </a:solidFill>
              </a:rPr>
              <a:t>📉 Risk Leaders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645919"/>
            <a:ext cx="5029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82828"/>
                </a:solidFill>
              </a:rPr>
              <a:t>Liquid funds show lowest VaR (&lt;0.1% daily) — ideal for capital preservation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926080"/>
            <a:ext cx="5303520" cy="1554480"/>
          </a:xfrm>
          <a:prstGeom prst="rect">
            <a:avLst/>
          </a:prstGeom>
          <a:solidFill>
            <a:srgbClr val="EEF2F7"/>
          </a:solidFill>
          <a:ln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0175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3A6B"/>
                </a:solidFill>
              </a:rPr>
              <a:t>📈 Alpha Generators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474720"/>
            <a:ext cx="5029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82828"/>
                </a:solidFill>
              </a:rPr>
              <a:t>Mid-cap active funds generate positive Alpha (&gt;2% annually) vs NIFTY 100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2926080"/>
            <a:ext cx="5303520" cy="1554480"/>
          </a:xfrm>
          <a:prstGeom prst="rect">
            <a:avLst/>
          </a:prstGeom>
          <a:solidFill>
            <a:srgbClr val="EEF2F7"/>
          </a:solidFill>
          <a:ln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30175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3A6B"/>
                </a:solidFill>
              </a:rPr>
              <a:t>💡 SIP Trends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3474720"/>
            <a:ext cx="5029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82828"/>
                </a:solidFill>
              </a:rPr>
              <a:t>97.8% of investors with 6+ SIPs have avg gaps &gt;35 days — continuity opportunity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754880"/>
            <a:ext cx="5303520" cy="1554480"/>
          </a:xfrm>
          <a:prstGeom prst="rect">
            <a:avLst/>
          </a:prstGeom>
          <a:solidFill>
            <a:srgbClr val="EEF2F7"/>
          </a:solidFill>
          <a:ln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8463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3A6B"/>
                </a:solidFill>
              </a:rPr>
              <a:t>🏭 HHI Insights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303520"/>
            <a:ext cx="5029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82828"/>
                </a:solidFill>
              </a:rPr>
              <a:t>Sectoral funds have high portfolio concentration (HHI &gt;500) vs diversified funds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4754880"/>
            <a:ext cx="5303520" cy="1554480"/>
          </a:xfrm>
          <a:prstGeom prst="rect">
            <a:avLst/>
          </a:prstGeom>
          <a:solidFill>
            <a:srgbClr val="EEF2F7"/>
          </a:solidFill>
          <a:ln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48463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3A6B"/>
                </a:solidFill>
              </a:rPr>
              <a:t>👥 Cohort Insight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5303520"/>
            <a:ext cx="5029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82828"/>
                </a:solidFill>
              </a:rPr>
              <a:t>2024 cohort has the most investors (4,456) with avg SIP of ₹10,987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3A6B"/>
          </a:solidFill>
          <a:ln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371600"/>
            <a:ext cx="121889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5811F"/>
                </a:solidFill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926080"/>
            <a:ext cx="12188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Bluestock Fintech — Mutual Fund Analytics Capstone Project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657600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C4DE"/>
                </a:solidFill>
              </a:rPr>
              <a:t>Nilambar Sonu Behera  |  GitHub: NilambarSonu/mutual-fund-analytics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29768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June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